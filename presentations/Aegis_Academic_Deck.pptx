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4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charts/chart6.xml" ContentType="application/vnd.openxmlformats-officedocument.drawingml.chart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(gate 0.5)</c:v>
                </c:pt>
              </c:strCache>
            </c:strRef>
          </c:tx>
          <c:spPr>
            <a:solidFill>
              <a:srgbClr val="E0655C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Over-refusal (FRR)</c:v>
                  </c:pt>
                  <c:pt idx="1">
                    <c:v>ROC-AUC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0.647</c:v>
                </c:pt>
                <c:pt idx="1">
                  <c:v>0.828</c:v>
                </c:pt>
                <c:pt idx="2">
                  <c:v>0.484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(gate 0.85)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Over-refusal (FRR)</c:v>
                  </c:pt>
                  <c:pt idx="1">
                    <c:v>ROC-AUC</c:v>
                  </c:pt>
                  <c:pt idx="2">
                    <c:v>F1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0.169</c:v>
                </c:pt>
                <c:pt idx="1">
                  <c:v>0.875</c:v>
                </c:pt>
                <c:pt idx="2">
                  <c:v>0.662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6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B1F3A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</c:v>
                  </c:pt>
                  <c:pt idx="1">
                    <c:v>Word TF-IDF</c:v>
                  </c:pt>
                  <c:pt idx="2">
                    <c:v>RJD-v1</c:v>
                  </c:pt>
                  <c:pt idx="3">
                    <c:v>RJD-v2</c:v>
                  </c:pt>
                  <c:pt idx="4">
                    <c:v>Aegis-Fast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</c:v>
                </c:pt>
                <c:pt idx="1">
                  <c:v>0.934</c:v>
                </c:pt>
                <c:pt idx="2">
                  <c:v>0.932</c:v>
                </c:pt>
                <c:pt idx="3">
                  <c:v>0.925</c:v>
                </c:pt>
                <c:pt idx="4">
                  <c:v>0.875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E8FD0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Keyword</c:v>
                  </c:pt>
                  <c:pt idx="1">
                    <c:v>Word TF-IDF</c:v>
                  </c:pt>
                  <c:pt idx="2">
                    <c:v>RJD-v1</c:v>
                  </c:pt>
                  <c:pt idx="3">
                    <c:v>RJD-v2</c:v>
                  </c:pt>
                  <c:pt idx="4">
                    <c:v>Aegis-Fast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0.506</c:v>
                </c:pt>
                <c:pt idx="1">
                  <c:v>0.783</c:v>
                </c:pt>
                <c:pt idx="2">
                  <c:v>0.765</c:v>
                </c:pt>
                <c:pt idx="3">
                  <c:v>0.766</c:v>
                </c:pt>
                <c:pt idx="4">
                  <c:v>0.662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RJD-v2</c:v>
                </c:pt>
              </c:strCache>
            </c:strRef>
          </c:tx>
          <c:spPr>
            <a:solidFill>
              <a:srgbClr val="9AA7B8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JailbreakBench</c:v>
                  </c:pt>
                  <c:pt idx="1">
                    <c:v>AdvBench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0.441</c:v>
                </c:pt>
                <c:pt idx="1">
                  <c:v>0.645</c:v>
                </c:pt>
                <c:pt idx="2">
                  <c:v>0.708</c:v>
                </c:pt>
                <c:pt idx="3">
                  <c:v>0.54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Aegis-Fast</c:v>
                </c:pt>
              </c:strCache>
            </c:strRef>
          </c:tx>
          <c:spPr>
            <a:solidFill>
              <a:srgbClr val="2E8FD0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JailbreakBench</c:v>
                  </c:pt>
                  <c:pt idx="1">
                    <c:v>AdvBench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0.441</c:v>
                </c:pt>
                <c:pt idx="1">
                  <c:v>0.565</c:v>
                </c:pt>
                <c:pt idx="2">
                  <c:v>0.643</c:v>
                </c:pt>
                <c:pt idx="3">
                  <c:v>0.569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Guard L2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JailbreakBench</c:v>
                  </c:pt>
                  <c:pt idx="1">
                    <c:v>AdvBench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0.469</c:v>
                </c:pt>
                <c:pt idx="1">
                  <c:v>0.72</c:v>
                </c:pt>
                <c:pt idx="2">
                  <c:v>0.741</c:v>
                </c:pt>
                <c:pt idx="3">
                  <c:v>0.627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8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Keyword</c:v>
                </c:pt>
              </c:strCache>
            </c:strRef>
          </c:tx>
          <c:spPr>
            <a:solidFill>
              <a:srgbClr val="9AA7B8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0.37</c:v>
                </c:pt>
                <c:pt idx="3">
                  <c:v>0.34</c:v>
                </c:pt>
                <c:pt idx="4">
                  <c:v>0.19</c:v>
                </c:pt>
                <c:pt idx="5">
                  <c:v>0.21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Word TF-IDF</c:v>
                </c:pt>
              </c:strCache>
            </c:strRef>
          </c:tx>
          <c:spPr>
            <a:solidFill>
              <a:srgbClr val="D69B36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0.73</c:v>
                </c:pt>
                <c:pt idx="3">
                  <c:v>0.72</c:v>
                </c:pt>
                <c:pt idx="4">
                  <c:v>0.67</c:v>
                </c:pt>
                <c:pt idx="5">
                  <c:v>0.7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RJD-v2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Base64</c:v>
                  </c:pt>
                  <c:pt idx="1">
                    <c:v>ROT13</c:v>
                  </c:pt>
                  <c:pt idx="2">
                    <c:v>Leetspeak</c:v>
                  </c:pt>
                  <c:pt idx="3">
                    <c:v>Homoglyph</c:v>
                  </c:pt>
                  <c:pt idx="4">
                    <c:v>Zero-width</c:v>
                  </c:pt>
                  <c:pt idx="5">
                    <c:v>Emoji</c:v>
                  </c:pt>
                  <c:pt idx="6">
                    <c:v>ASCII-art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</c:v>
                </c:pt>
                <c:pt idx="1">
                  <c:v>1</c:v>
                </c:pt>
                <c:pt idx="2">
                  <c:v>0.96</c:v>
                </c:pt>
                <c:pt idx="3">
                  <c:v>0.85</c:v>
                </c:pt>
                <c:pt idx="4">
                  <c:v>0.69</c:v>
                </c:pt>
                <c:pt idx="5">
                  <c:v>0.76</c:v>
                </c:pt>
                <c:pt idx="6">
                  <c:v>0.53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7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-6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RJD-v2  (~9 ms, CPU)</c:v>
                </c:pt>
              </c:strCache>
            </c:strRef>
          </c:tx>
          <c:spPr>
            <a:solidFill>
              <a:srgbClr val="0E9C92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In-house</c:v>
                  </c:pt>
                  <c:pt idx="1">
                    <c:v>JailbreakBench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0.925</c:v>
                </c:pt>
                <c:pt idx="1">
                  <c:v>0.441</c:v>
                </c:pt>
                <c:pt idx="2">
                  <c:v>0.708</c:v>
                </c:pt>
                <c:pt idx="3">
                  <c:v>0.54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DeBERTa  (~63 ms)</c:v>
                </c:pt>
              </c:strCache>
            </c:strRef>
          </c:tx>
          <c:spPr>
            <a:solidFill>
              <a:srgbClr val="9AA7B8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In-house</c:v>
                  </c:pt>
                  <c:pt idx="1">
                    <c:v>JailbreakBench</c:v>
                  </c:pt>
                  <c:pt idx="2">
                    <c:v>HarmBench</c:v>
                  </c:pt>
                  <c:pt idx="3">
                    <c:v>WildGuardMix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0.896</c:v>
                </c:pt>
                <c:pt idx="1">
                  <c:v>0.6</c:v>
                </c:pt>
                <c:pt idx="2">
                  <c:v>0.309</c:v>
                </c:pt>
                <c:pt idx="3">
                  <c:v>0.55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12233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8FD0">
                <a:alpha val="100000"/>
              </a:srgbClr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33B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8FD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655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Base64</c:v>
                  </c:pt>
                  <c:pt idx="1">
                    <c:v>Roleplay</c:v>
                  </c:pt>
                  <c:pt idx="2">
                    <c:v>Zero-width</c:v>
                  </c:pt>
                  <c:pt idx="3">
                    <c:v>Prefix-inject</c:v>
                  </c:pt>
                  <c:pt idx="4">
                    <c:v>Suffix-inject</c:v>
                  </c:pt>
                  <c:pt idx="5">
                    <c:v>Char-spacing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2233B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  <c:min val="0"/>
        </c:scaling>
        <c:delete val="1"/>
        <c:axPos val="l"/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is my CSL6010 major project: a six-layer defence-in-depth system for LLM jailbreaks and prompt injection, built as the successor to RJD-v2 and runnable on free Kaggle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both attacks plainly. Jailbreak = override the model's own rules. Prompt injection = smuggle instructions through data. OWASP ranks prompt injection the #1 LLM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reasons the problem is urgent in 2026: it's OWASP's #1 LLM risk, agents make the blast radius huge, and attacks are industrialised and adaptive.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of the whole project: defence in depth. A single filter is a fixed target; layering forces the attacker to defeat every independent control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attack classes, in scope. Out of scope: attacks on the model weights, the host, or the human operator. We assume the attacker adapts.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Aegis doesn't replace these - it composes their ideas into one cascade, with dependency-free fallbacks so it runs on free compute.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architecture in one picture: a request flows top to bottom. Each layer is independent and individually testable, so bypassing one is not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P0: Set the goal (the best practical 2026 defense that still runs on one free Kaggle T4 GPU), mapped the 2026 attack surface, and wrote the L0-L5 design and the P0-P6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P1: Assembled a labelled attack/benign corpus from public datasets and built an evaluation harness reporting security metrics, then re-ran the RJD baselines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P2: Added the normalizer (de-obfuscation) and FastLayer, which stacks the RJD detector, a semantic similarity detector, and a signature database with a recall-preserving combiner.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P3: QLoRA-fine-tuned a small Qwen2.5-1.5B model into a safety classifier, wrapped an ensemble, and added a selective cascade so the costly guard only runs on uncertain prompts. Published to Hugging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P4: Added an injection scanner/sanitizer, a least-privilege tool policy with taint tracking, and a Dual-LLM design where the privileged planner never sees raw untrusted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P5: Added the OutputModerator egress gate (PII, secrets, system-prompt/canary leak, response safety) and the continuous-ops layer: an automated red-team mutator battery and a drift monitor.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P6: Packaged everything as a pip-installable library with a CLI, a FastAPI service with Docker, a pytest suite across all layers, and a research paper plus a system model 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traffic is handled by the cheap layers; the expensive guard is reserved for the uncertain band. The response is checked on the way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accuracy is misleading when benign traffic dominates. We report recall at a fixed low false-positive rate, and we control for contamination.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findings, all from the confirmed Kaggle runs (HF_TOKEN active, logged to Weights &amp; Biases). The next slides chart each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Over-refusal (FRR) is lower-is-better; ROC-AUC and F1 higher-is-better. One root cause (a too-loose semantic gate), one fix, three symptoms cured.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 TF-IDF edges F1 in-distribution but collapses on obfuscation (see robustness slide). Aegis-Fast trades a little in-distribution accuracy for the gate that keeps over-refusal usable.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RJD-v2 and Aegis-Fast are shown in grey/blue; the fine-tuned guard in teal. The guard transfers to benchmarks it never trained on - the core justification for the selective cascade.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durable robustness headline: the RJD family de-obfuscates before scoring, so encoded attacks that zero-out the classical filters are caught. ASCII-art is held out and remains the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DeBERTa is trained for injection, not harmful-instruction jailbreaks, so HarmBench is out of its domain - a fair, favorable, reproducible comparison. RJD-v2 loses only on JailbreakBench.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red-team result against the fast layer: mean ASR 0.33 across mutators. The drift monitor separately flags an attack surge (PSI 11.78).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RJD-v1 was a single classifier; RJD-v2 hardened it; Aegis makes that detector just one layer inside a six-layer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 models (Llama Guard etc.) are strong but evadable, heavy, English-centric, and prompt-only. Aegis uses one as L2 and surrounds it with layers it can't 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Restates the thesis with the operational consequences: independent layers don't share blind spots, and L5 surfaces failures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measurable before/after for every phase - this is the clearest evidence that each step earned its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contributions: the composition itself, reproducibility on free compute, the recall-preserving guarantee, and full productisation.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limitations plainly - this is exactly why L5 (continuous red-team + monitoring) exists. Honesty here strengthens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Defensive framing, standards alignment, human oversight, and honest privacy claims.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thesis: the value is the composition, not any one classifier.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91440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1F3A5F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126480" y="178308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B7E7D">
              <a:alpha val="5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265176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0E9C92">
              <a:alpha val="49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126480" y="3520440"/>
            <a:ext cx="2743200" cy="640080"/>
          </a:xfrm>
          <a:prstGeom prst="roundRect">
            <a:avLst>
              <a:gd name="adj" fmla="val 14286"/>
            </a:avLst>
          </a:prstGeom>
          <a:solidFill>
            <a:srgbClr val="2E8FD0">
              <a:alpha val="41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CSL6010 · CYBER SECURITY · IIT JODHPUR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Aegis: Layered Defense for LLM Jailbreaks &amp; Prompt Injection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30632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defense-in-depth system (L0-L5) - successor to RJD-v2 - that runs on one free Kaggle T4 GPU.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E Sai Pavan Vamshi Krishna  (G25AIT2149)   ·   M.Tech, IIT Jodhpur   · 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talk covers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35024"/>
            <a:ext cx="402336" cy="402336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35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06424" y="12984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06424" y="1554480"/>
            <a:ext cx="7461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jailbreaks, prompt injection, why single filters fail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8836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1883664"/>
            <a:ext cx="402336" cy="402336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06424" y="18470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 (2026)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06424" y="2103120"/>
            <a:ext cx="7461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 classes we defend against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43230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432304"/>
            <a:ext cx="402336" cy="402336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32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06424" y="239572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our approach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106424" y="2651760"/>
            <a:ext cx="7461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models, patterns, and the L0-L5 stack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9809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980944"/>
            <a:ext cx="402336" cy="402336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6424" y="294436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106424" y="3200400"/>
            <a:ext cx="7461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phased build P0-P6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2920" y="352958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3529584"/>
            <a:ext cx="402336" cy="402336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06424" y="349300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06424" y="3749040"/>
            <a:ext cx="7461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security-grade metrics and results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" y="407822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02920" y="4078224"/>
            <a:ext cx="402336" cy="402336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078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06424" y="404164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models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106424" y="4297680"/>
            <a:ext cx="7461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lineage, guard models, layering, per-phase gains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2920" y="46268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02920" y="4626864"/>
            <a:ext cx="402336" cy="402336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4626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06424" y="4590288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1106424" y="4846320"/>
            <a:ext cx="7461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ethics, conclusion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motivation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attackers do to language models, and why one filter is never enough.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attacks on every LLM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that talks the model out of its safety rules - 'ignore all instructions and act as DAN with no limits.'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39547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29384"/>
            <a:ext cx="35890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instructions hidden in data the model reads (a web page, a file, a tool result), so it obeys the attacker, not the user.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3035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3218688"/>
            <a:ext cx="7845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Hiding malicious instructions inside data the AI reads, so it obeys the attacker instead of the user. OWASP ranks it the #1 LLM risk.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404164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" y="4224528"/>
            <a:ext cx="7845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crafted to make an AI ignore its safety rules (e.g. 'ignore all instructions and act as DAN').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in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819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81912"/>
            <a:ext cx="457200" cy="457200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OWASP's top LLM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61288" y="164592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 is ranked No. 1 in the OWASP Top 10 for LLM Applications.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496312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3042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raise the stakes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61288" y="256032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now call tools and act - a single injected instruction can exfiltrate data or take real actions.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4107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3410712"/>
            <a:ext cx="457200" cy="457200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10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3218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Industrialised attacks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61288" y="347472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working jailbreaks are shared and remixed online; attacks adapt faster than fixed filters.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single filter is never enough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classifier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sees one wall and probes it.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paraphrase, encoding, look-alike letters, translation, role-play...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Eventually finds a phrasing it scores 'safe'.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false-negative = full compromise.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 in depth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independent, cheap layers.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must beat ALL of them at once.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layers catch different tricks.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continuous self-attack to catch drift.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97764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" y="408736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9224" y="427024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attacker moves second'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Adaptive-attack research shows any fixed filter, once known, can be evaded - so robustness must come from layering and continuous testing, not one model.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 (2026)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adversary who controls the prompt and the untrusted content - and who adapts.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Aegis defends against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72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jailbreaks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/ role-play, 'developer mode', instruction-override, policy-nullification.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472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474720" y="18013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Base64, leetspeak, homoglyphs, zero-width &amp; bidi characters, character spacing.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4721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/ agent injection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18013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instructions in retrieved docs, web pages, and tool outputs targeting agents.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403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1866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attacks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85800" y="35158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intent in another language or script to dodge English-only filters.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0403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1866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Output-side failures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35158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Leaked PII, secrets/credentials, the system prompt, or a complied-with harmful request.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3040380"/>
            <a:ext cx="256032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1866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adversary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3515868"/>
            <a:ext cx="2194560" cy="88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to know the filter and adapt - so no single layer is trusted alone.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 &amp; our approach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field offers in 2026 - and how Aegis composes it into one cascade.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2026 toolbox we build 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models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Guard 4, Qwen3Guard, ShieldGemma, WildGuard, Granite Guardian - LLMs trained to judge safety.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293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Spotlighting, Dual-LLM, Google CaMeL, StruQ / SecAlign training-time defences.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0403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049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20497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04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31866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6438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HarmBench, JailbreakBench, AdvBench; AgentDojo &amp; InjecAgent for agents.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6300" y="3040380"/>
            <a:ext cx="3954780" cy="1485900"/>
          </a:xfrm>
          <a:prstGeom prst="roundRect">
            <a:avLst>
              <a:gd name="adj" fmla="val 5538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9180" y="32049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69180" y="320497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25" name="Text 23"/>
          <p:cNvSpPr/>
          <p:nvPr/>
        </p:nvSpPr>
        <p:spPr>
          <a:xfrm>
            <a:off x="4869180" y="32049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1244" y="31866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&amp; standards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69180" y="3643884"/>
            <a:ext cx="35890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garak, PyRIT, Promptfoo red-team; Presidio (PII); OWASP LLM Top 10; NIST AI RMF.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= six independent layers (L0-L5)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280160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provenance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de-obfuscate + mark untrusted text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1869948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1F3A5F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" y="1869948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1869948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layer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+ semantic + signature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459736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B7E7D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" y="2459736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459736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ensemble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LLM, used on hard cases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049524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0E9C92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" y="3049524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049524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defense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tools, gate actions, dual-LLM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639312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2E8FD0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" y="3639312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moderation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secrets, leak, response safety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229100"/>
            <a:ext cx="8138160" cy="480060"/>
          </a:xfrm>
          <a:prstGeom prst="roundRect">
            <a:avLst>
              <a:gd name="adj" fmla="val 13333"/>
            </a:avLst>
          </a:prstGeom>
          <a:solidFill>
            <a:srgbClr val="D69B36"/>
          </a:solidFill>
          <a:ln/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" y="4229100"/>
            <a:ext cx="822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4229100"/>
            <a:ext cx="70408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ops  </a:t>
            </a:r>
            <a:pPr indent="0" marL="0">
              <a:buNone/>
            </a:pPr>
            <a:r>
              <a:rPr lang="en-US" sz="1150" dirty="0">
                <a:solidFill>
                  <a:srgbClr val="DC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+ drift monitoring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FOUR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Methodology: the phased build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to P6. Each phase adds one layer and is evaluated before the next.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P0 -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Scope, threat model &amp; design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what we're defending, against whom, and how - on paper first.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28232" y="365760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6428232" y="3657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· 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709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Researched 2026 state-of-the-art (guard models, design patterns, benchmarks, standards).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the threat model: direct jailbreaks, obfuscation, agent injection, multilingual, output leaks.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a layered 'defense-in-depth' architecture and wrote the roadmap.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1600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90195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jailbreak detector (RJD) with no plan beyond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86984" y="31363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for six independent layers and a phased build.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436168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independent, cheap safeguards layered so an attacker must defeat all of them at once.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P1 - DATA + EVAL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corpus &amp; security-grade evaluation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fair test bed and measure the right things before optimizing anything.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28232" y="365760"/>
            <a:ext cx="2212848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6428232" y="36576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·  L0-L1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709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 in-the-wild jailbreaks, JailbreakBench, AdvBench, HarmBench, WildGuardMix + benign controls.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ROC-AUC, recall @ 1% FPR, FPR @ 95% TPR, over-refusal (FRR), attack-success-rate (ASR).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Baselines: keyword, TF-IDF, RJD-v1 and RJD-v2; benchmark sets kept test-only.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1600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90195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plain accuracy on a small, possibly-contaminated set.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86984" y="31363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Judged by recall at a fixed low false-alarm rate - the metric that matters at scale.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436168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1% FPR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attacks you catch while wrongly flagging only 1% of safe prompts - the metric that matters at scale.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P2 - FAST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De-obfuscation + the fast detector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text first, then catch attacks three different ways and keep the strongest signal.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35624" y="365760"/>
            <a:ext cx="2505456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6135624" y="36576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·  L0 + L1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709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Normalize: Unicode fold, strip zero-width/bidi, fold homoglyphs, decode Base64, undo leetspeak/spacing.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detector: similarity to known attacks (catches reworded/novel-but-similar).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DB + recall-preserving 'max' combiner so FastLayer can only add recall, never lose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1600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90195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 alone was fooled by Base64/homoglyph tricks and by reworded attacks.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86984" y="31363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 is normalized away; the max-combiner keeps FastLayer at or above RJD's score.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436168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disguised text back to plain text before checking it, so the tricks stop working.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P3 - GUARD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guard ensemble + smart cascade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our own small AI judge, and only wake it for the tricky cases.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67144" y="365760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6867144" y="36576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·  L2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709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(4-bit) fine-tune of Qwen2.5-1.5B as a safety classifier - fits one T4.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GuardEnsemble (max/mean) over guard members for stability.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cascade: guard runs only on the uncertain band; published adapter + model card.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1600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90195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cheap statistical detector - weak on subtle, novel attacks.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86984" y="31363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 scrutiny exactly where it's needed, at low average cost.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436168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way to fine-tune a big model by training a tiny add-on; QLoRA also compresses it to 4-bit so it fits a free GPU.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P4 - AGENT DEFENSE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&amp; indirect-injection defense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hidden instructions in the agent's tools and documents from hijacking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67144" y="365760"/>
            <a:ext cx="1773936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6867144" y="36576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  ·  L3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709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scanner + sanitizer for untrusted content (emails, web pages, tool output).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policy: taint tracking; dangerous tools gated allow / confirm / block.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Dual-LLM: a quarantined model reads untrusted text; the planner sees only safe summaries.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1600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90195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Defenses assumed the threat was in the user's prompt only.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86984" y="31363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protected from instructions buried in the data they read.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436168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Dual-LLM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models: a 'quarantined' one reads risky text, a 'privileged' one acts but never sees the raw risky text.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P5 - OUTPUT + OPS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moderation + continuous red-team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AI's answer too, and keep attacking ourselves to stay ahead.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35624" y="365760"/>
            <a:ext cx="2505456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6135624" y="36576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·  L4 + L5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709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gate: redact PII, block leaked secrets, catch system-prompt/canary leaks, score harmful compliance.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 harness: mutate known attacks (Base64, homoglyph, roleplay...) and report ASR per mutator.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 (PSI) + guard_turn() that checks prompt and response together.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1600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90195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incoming prompt was filtered.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86984" y="31363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outgoing response is the last line of defense - even if the input slipped through.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436168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token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secret marker planted in the system prompt; if it ever appears in a reply, the prompt has leaked.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P6 - PACKAGING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Library, CLI, service, paper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research into something people can install, run, and deploy.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35624" y="365760"/>
            <a:ext cx="2505456" cy="329184"/>
          </a:xfrm>
          <a:prstGeom prst="roundRect">
            <a:avLst>
              <a:gd name="adj" fmla="val 50000"/>
            </a:avLst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6135624" y="365760"/>
            <a:ext cx="2505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 ·  Product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47091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2029968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aegis-guard + an 'aegis' command-line tool; clean pyproject with extras.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service: /scan, /moderate, /guard_turn + Dockerfile; pytest suite (L0-L5 + service).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(PDF) and a system model card in docs/.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40680" y="160020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2F4F1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86984" y="16916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586984" y="190195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research notebooks.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283464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86984" y="29260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86984" y="3136392"/>
            <a:ext cx="29077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installable, deployable, tested product - the full L0-L5 stack.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06908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417880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9224" y="4361688"/>
            <a:ext cx="7845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attacking your own system to find weaknesses before real attackers do.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CASCADE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request flows through the cascade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the prompt + any untrusted content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645920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de-obfuscate, mark provenance.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194560"/>
            <a:ext cx="457200" cy="457200"/>
          </a:xfrm>
          <a:prstGeom prst="ellipse">
            <a:avLst/>
          </a:prstGeom>
          <a:solidFill>
            <a:srgbClr val="0B7E7D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1031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layer scores it instantly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235915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clearly-bad is blocked, clearly-fine is allowed.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077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907792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281635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uncertain middle escalates to the guard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3072384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scrutiny, rarely called, low average cost.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210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621024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35295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reply is moderated before the user sees 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" y="3785616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PII, secrets, leaks, harmful compliance.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8138160" cy="685800"/>
          </a:xfrm>
          <a:prstGeom prst="roundRect">
            <a:avLst>
              <a:gd name="adj" fmla="val 10667"/>
            </a:avLst>
          </a:prstGeom>
          <a:solidFill>
            <a:srgbClr val="EAF1FA"/>
          </a:solidFill>
          <a:ln w="12700">
            <a:solidFill>
              <a:srgbClr val="DCE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3425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" y="4517136"/>
            <a:ext cx="7845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cascade -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cheap check on everything; only escalate the genuinely uncertain cases to the expensive model.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FIVE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right things - then report them honestly.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Security-grade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72184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1% FPR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5890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 while wrongly flagging only 1% of safe prompts - the operating point that matters when most traffic is benign.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6300" y="132588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69180" y="1472184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&amp; FPR @ 95% TPR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69180" y="1801368"/>
            <a:ext cx="35890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separability and the false-alarm cost of catching 95% of attacks.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1752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163824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Over-refusal (FRR) &amp; ASR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3493008"/>
            <a:ext cx="35890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we block safe prompts, and how often attacks still succeed.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301752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69180" y="3163824"/>
            <a:ext cx="35890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control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3493008"/>
            <a:ext cx="35890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prompt sets kept test-only; adversarial augmentation applied to training only.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Headline results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0.169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1264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Aegis-Fast over-refusal (FRR), cut from 0.647 by the semantic-gate fix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461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8605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E8F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0.925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270433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in-distribution ROC-AUC (F1 0.766) - strongest single L1 detector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8630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7774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D69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479602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Output-moderation precision, recall and F1 on the leak/harm probe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77990" y="1371600"/>
            <a:ext cx="186309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69430" y="1554480"/>
            <a:ext cx="168021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887718" y="2286000"/>
            <a:ext cx="164363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passing across layers L0-L5 + 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971800"/>
            <a:ext cx="81381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is the strongest single L1 detector in-distribution: ROC-AUC 0.925, F1 0.766, over-refusal 0.037; on Base64 and ROT13 it recalls 1.00 where keyword and TF-IDF score 0.00.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semantic-gate fix (0.5 to 0.85) cut Aegis-Fast over-refusal from 0.647 to 0.169 and lifted ROC 0.828 to 0.875, F1 0.484 to 0.662.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fine-tuned L2 guard is the out-of-distribution workhorse (ROC-AUC 0.72 to 0.92, over-refusal 0.03 to 0.06) where the cheap detectors fade - the case for the cascade.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moderation scored precision, recall and F1 of 1.00 on the leak/harm probe; red-team mean ASR is 0.33, with character-spacing the one open gap.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THE OVER-REFUSAL FIX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fix, three symptoms cured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Aegis-Fast: before (semantic gate 0.5) vs after (gate 0.85)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gate cut over-refusal from 0.647 to 0.169; ROC rose to 0.875 and F1 to 0.662.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IN-DISTRIBUTION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Detector comparison (in-distribution)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in_house test set (n=1605) - ROC-AUC and F1, higher is better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leads in-distribution (ROC 0.925, F1 0.766); the keyword baseline barely beats chance (0.680).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OUT-OF-DISTRIBUTION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Cross-benchmark generalization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on unseen benchmarks - higher is better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L2 guard leads on AdvBench (0.72) and HarmBench (0.74), where the cheap detectors fade - the reason the cascade escalates.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ROBUSTNESS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 under obfuscation attack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under attack (higher is better): classical baselines vs RJD-v2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and TF-IDF score 0.00 on Base64 and ROT13; RJD-v2 de-obfuscates first and recalls 1.00.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VS A PUBLIC GUARD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RJD-v2 vs a public neural guard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vs protectai/deberta-v3 prompt-injection guard - higher is better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0E9C92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RJD-v2 matches or beats DeBERTa on 3 of 4 sets at about 8x lower latency (~9 ms vs ~63 ms), CPU-only.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- RED-TEAM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Red-team: attack-success-rate per mutator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2706624"/>
          </a:xfrm>
          <a:prstGeom prst="roundRect">
            <a:avLst>
              <a:gd name="adj" fmla="val 3041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22376" y="1490472"/>
            <a:ext cx="7735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Attack-success-rate per mutator - lower is better (mean ASR 0.33)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9224" y="1828800"/>
          <a:ext cx="7845552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251960"/>
            <a:ext cx="64008" cy="420624"/>
          </a:xfrm>
          <a:prstGeom prst="rect">
            <a:avLst/>
          </a:prstGeom>
          <a:solidFill>
            <a:srgbClr val="E0655C"/>
          </a:solidFill>
          <a:ln/>
        </p:spPr>
      </p:sp>
      <p:sp>
        <p:nvSpPr>
          <p:cNvPr id="8" name="Text 5"/>
          <p:cNvSpPr/>
          <p:nvPr/>
        </p:nvSpPr>
        <p:spPr>
          <a:xfrm>
            <a:off x="704088" y="4206240"/>
            <a:ext cx="78821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E0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GAP   </a:t>
            </a:r>
            <a:pPr indent="0" marL="0">
              <a:buNone/>
            </a:pPr>
            <a:r>
              <a:rPr lang="en-US" sz="115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and roleplay channels are fully closed (0.00); character-spacing (1.00) is the one open gap and the next hardening target.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prior models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my own RJD lineage, against single guard models, and layer-by-layer.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vs the RJD lineage</a:t>
            </a:r>
            <a:endParaRPr lang="en-US" sz="27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RJD-v1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RJD-v2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keyword/TF-IDF classifier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Hardened classifier (calibration, features)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Six-layer system (L0-L5)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 (Base64, homoglyph)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handled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away at L0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Novel / reworded attacks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+ guard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/ tool injection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L3 defense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Output-side leaks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covered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egress gate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red-team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 automated + drift monitor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+ deck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+ CLI + service + 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vs a single guard model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guard model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makes one yes/no call - once an attacker learns it, they evade it.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Heavyweight: a billions-parameter model on every request.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English; obfuscated input can dodge it.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the prompt - no agent-tool or output-leak protection.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whole defense, so its blind spots are the system's blind spots.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(guard = one layer)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model is just ONE layer (L2), behind normalization and a fast filter.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Cheap-first cascade: the costly guard runs only on uncertain cases.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normalization + multilingual embeddings close the obfuscation/language gaps.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agent defense (L3) and output moderation (L4) the guard can't do.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layers + continuous red-team (L5): one blind spot doesn't break the system.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filter vs layered defence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E0655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027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sees one wall and probes it until one phrasing scores 'safe'.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'The attacker moves second' - any fixed filter is eventually bypassed.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false-negative = full compromise.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notice when it starts failing.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371600"/>
            <a:ext cx="3931920" cy="457200"/>
          </a:xfrm>
          <a:prstGeom prst="roundRect">
            <a:avLst>
              <a:gd name="adj" fmla="val 18000"/>
            </a:avLst>
          </a:prstGeom>
          <a:solidFill>
            <a:srgbClr val="0E9C92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(Aegis)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73752" y="1938528"/>
            <a:ext cx="3602736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must beat L0 AND L1 AND L2 AND L3 AND L4 - at the same time.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targets a different weakness, so bypasses don't stack.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layers handle volume; the expensive layer is saved for hard cases.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 keeps attacking and monitoring, so failures surface fast.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4 - PER-PHASE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phase added</a:t>
            </a:r>
            <a:endParaRPr lang="en-US" sz="27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291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 ·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jailbreak detector (RJD) with no plan beyond it.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blueprint for six independent layers and a phased build.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· Data + Eval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 plain accuracy on a small, possibly-contaminated set.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Judged by recall at a fixed low false-alarm rate - the metric that matters at scale.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· Fast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RJD alone was fooled by Base64/homoglyph tricks and by reworded attacks.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 is normalized away; the max-combiner keeps FastLayer at or above RJD's score.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 · Guard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 cheap statistical detector - weak on subtle, novel attacks.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model scrutiny exactly where it's needed, at low average cost.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 · Agent defense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Defenses assumed the threat was in the user's prompt only.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 are protected from instructions buried in the data they read.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 · Output + 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incoming prompt was filtered.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outgoing response is the last line of defense - even if the input slipped through.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P6 · Packaging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set of research notebooks.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installable, deployable, tested product - the full L0-L5 stack.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1440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0" b="1" dirty="0">
                <a:solidFill>
                  <a:srgbClr val="0E9C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48640" y="2971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SEVEN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2004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4206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7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Contributions, limitations, ethics, and what comes next.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90472"/>
            <a:ext cx="457200" cy="457200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61288" y="13898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composed, end-to-end stack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64592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L0-L5 in one system - input, model, agent, and output - not a single classifier.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2219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02920" y="2221992"/>
            <a:ext cx="457200" cy="457200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61288" y="21214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on free compute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237744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has an offline fallback; the guard trains on one Kaggle T4.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9535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953512"/>
            <a:ext cx="457200" cy="457200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61288" y="28529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Recall-preserving fast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61288" y="310896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combiner that provably never scores below the prior RJD-v2 detector.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685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685032"/>
            <a:ext cx="457200" cy="457200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685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61288" y="35844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as a product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61288" y="384048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+ CLI + FastAPI service + tests + paper + model card.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(honest)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stack is unbreakable - Aegis raises attacker cost, it does not guarantee safety.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L2 guard is English-centric unless trained with translated data.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L4 response-safety scorer is a lightweight heuristic; a full response classifier would be stronger.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PII/secret rules trade some recall for precision; Presidio / NER would close part of the gap.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fallbacks reduce accuracy versus a fully-resourced run.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2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red-team mutates known attacks - it measures evasion of catalogued techniques, not discovery of new ones.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Ethics &amp; responsible use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490472"/>
            <a:ext cx="384048" cy="384048"/>
          </a:xfrm>
          <a:prstGeom prst="ellipse">
            <a:avLst/>
          </a:prstGeom>
          <a:solidFill>
            <a:srgbClr val="0E9C9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9786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only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92938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attack/red-team code mutates only known, public attacks for hardening - no novel weaponization.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86300" y="132588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869180" y="1490472"/>
            <a:ext cx="384048" cy="384048"/>
          </a:xfrm>
          <a:prstGeom prst="ellipse">
            <a:avLst/>
          </a:prstGeom>
          <a:solidFill>
            <a:srgbClr val="2E8FD0"/>
          </a:solidFill>
          <a:ln/>
        </p:spPr>
      </p:sp>
      <p:sp>
        <p:nvSpPr>
          <p:cNvPr id="13" name="Text 11"/>
          <p:cNvSpPr/>
          <p:nvPr/>
        </p:nvSpPr>
        <p:spPr>
          <a:xfrm>
            <a:off x="4869180" y="1490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81244" y="147218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Standards-aligned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69180" y="192938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OWASP LLM Top 10 and the NIST AI Risk Management Framework.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1821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3182112"/>
            <a:ext cx="384048" cy="384048"/>
          </a:xfrm>
          <a:prstGeom prst="ellipse">
            <a:avLst/>
          </a:prstGeom>
          <a:solidFill>
            <a:srgbClr val="D69B36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97864" y="316382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85800" y="362102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probabilistic; over-blocking (FRR) and under-blocking (ASR) are both tracked and tuned.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86300" y="3017520"/>
            <a:ext cx="39547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6E0EC"/>
            </a:solidFill>
            <a:prstDash val="solid"/>
          </a:ln>
          <a:effectLst>
            <a:outerShdw sx="100000" sy="100000" kx="0" ky="0" algn="bl" rotWithShape="0" blurRad="114300" dist="38100" dir="5400000">
              <a:srgbClr val="0B1F3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69180" y="318211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4869180" y="3182112"/>
            <a:ext cx="384048" cy="384048"/>
          </a:xfrm>
          <a:prstGeom prst="ellipse">
            <a:avLst/>
          </a:prstGeom>
          <a:solidFill>
            <a:srgbClr val="E0655C"/>
          </a:solidFill>
          <a:ln/>
        </p:spPr>
      </p:sp>
      <p:sp>
        <p:nvSpPr>
          <p:cNvPr id="25" name="Text 23"/>
          <p:cNvSpPr/>
          <p:nvPr/>
        </p:nvSpPr>
        <p:spPr>
          <a:xfrm>
            <a:off x="486918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381244" y="3163824"/>
            <a:ext cx="31135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869180" y="3621024"/>
            <a:ext cx="35890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is best-effort defence, not a compliance guarantee.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credible 2026 LLM defence, assembled from cheap independent layers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layers - normalize, fast detect, fine-tuned guard, agent defence, output moderation, continuous red-team.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composition: every channel an attacker uses is narrowed, and the system assumes the attacker moves second.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on free compute, and packaged as a usable library and service.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native multilingual guard, hosted-guard / AgentDojo integration, a calibrated response classifier.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· L0-L5 · github.com/g25ait2149/aegis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(1 of 2)</a:t>
            </a:r>
            <a:endParaRPr lang="en-US" sz="27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Jailbreak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prompt crafted to make an AI ignore its safety rules (e.g. 'ignore all instructions and act as DAN').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Hiding malicious instructions inside data the AI reads, so it obeys the attacker instead of the user. OWASP ranks it the #1 LLM risk.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/ agent injection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injection aimed at an AI agent, hidden in a web page, file, or tool result the agent fetches.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Defense in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independent, cheap safeguards layered so an attacker must defeat all of them at once.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Obfuscation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Disguising an attack so filters miss it - Base64 encoding, look-alike letters, invisible characters.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Converting disguised text back to plain text before checking it, so the tricks stop working.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Homoglyph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character that looks identical to another (Cyrillic 'а' vs Latin 'a') used to slip past keyword filters.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/ semantic similarity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Turning text into numbers so two differently-worded prompts with the same meaning land close together.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exact fingerprint of a known attack - fast, zero false alarms, but only catches what it has seen.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AI model trained specifically to judge whether a prompt or reply is safe (e.g. Llama Guard).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 / QLoRA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cheap way to fine-tune a big model by training a tiny add-on; QLoRA also compresses it to 4-bit so it fits a free GPU.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 (2 of 2)</a:t>
            </a:r>
            <a:endParaRPr lang="en-US" sz="27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8016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8521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Combining several models/signals so the group is steadier than any one of them.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Selective cascade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cheap check on everything; only escalate the genuinely uncertain cases to the expensive model.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Spotlighting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 marking untrusted text as data so the model treats it as content to analyze, not commands to obey.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Dual-LLM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models: a 'quarantined' one reads risky text, a 'privileged' one acts but never sees the raw risky text.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Least-privilege tool policy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agent's tools stay locked down; risky actions need confirmation once untrusted data is involved.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Personally identifiable information - emails, phone numbers, card numbers - that must not leak.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secret marker planted in the system prompt; if it ever appears in a reply, the prompt has leaked.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Red-teaming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Deliberately attacking your own system to find weaknesses before real attackers do.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 (attack-success-rate)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fraction of attacks that get through the filter - lower is better.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@ 1% FPR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attacks you catch while wrongly flagging only 1% of safe prompts - the metric that matters at scale.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PSI (drift)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2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Stability Index: a number that rises when live traffic stops looking like your test data.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E9C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138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65176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- layered LLM jailbreak &amp; prompt-injection defence (L0-L5).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· CLI · FastAPI service · paper · model card.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E6EE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OWASP LLM Top 10 + NIST AI RMF.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E Sai Pavan Vamshi Krishna · G25AIT2149 · IIT Jodhpur · CSL6010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838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- Academic</dc:title>
  <dc:subject>PptxGenJS Presentation</dc:subject>
  <dc:creator>U E Sai Pavan Vamshi Krishna</dc:creator>
  <cp:lastModifiedBy>U E Sai Pavan Vamshi Krishna</cp:lastModifiedBy>
  <cp:revision>1</cp:revision>
  <dcterms:created xsi:type="dcterms:W3CDTF">2026-07-22T04:21:08Z</dcterms:created>
  <dcterms:modified xsi:type="dcterms:W3CDTF">2026-07-22T04:21:08Z</dcterms:modified>
</cp:coreProperties>
</file>